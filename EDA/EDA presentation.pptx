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94"/>
  </p:normalViewPr>
  <p:slideViewPr>
    <p:cSldViewPr snapToGrid="0">
      <p:cViewPr varScale="1">
        <p:scale>
          <a:sx n="88" d="100"/>
          <a:sy n="88" d="100"/>
        </p:scale>
        <p:origin x="176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D2AFC-4C6F-F691-4519-FF759CED2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74C24-0F93-E316-BED3-6570C257E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C7830-A4C3-86CB-4BCE-F8EADE5EA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FAAA-6657-C14C-BF84-71C88151A07E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5CB74-5DEF-767B-E1AE-FC2C62BCA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E5760-7FCE-8CB5-13D7-C8E6F2915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09533-06AC-9641-BBAA-3CB91D944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67B8C-E65F-C996-9E0F-9206FB292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223F-8E34-89DE-EBF5-EFAB9ED99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F9EC6-3CC6-AE81-9B00-4467D196C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FAAA-6657-C14C-BF84-71C88151A07E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63B8B-A985-C1A9-D4C0-70E93EAE0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000D6-AF5D-46EF-DD4A-745D10B7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09533-06AC-9641-BBAA-3CB91D944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12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54806-7361-3669-FC5B-84FD5292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D3129-A4CB-88C5-8836-2546FFDE1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F689E-89DD-0AA6-81AA-0F0204627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FAAA-6657-C14C-BF84-71C88151A07E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14EE4-81AB-5C05-3017-7A80ABE8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F652D-C94A-E532-1E22-093AC137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09533-06AC-9641-BBAA-3CB91D944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165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6CAA7-D5C1-830F-B108-D1FE4925A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B3276-6F4E-8C57-18B4-CE136F7F0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4E13D-91DB-CE29-8AAD-D8ECE55FD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D7E79-D4B1-2BCE-1F35-5FF9FA4D3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FAAA-6657-C14C-BF84-71C88151A07E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6D837-843D-9F6C-6752-06D4011A4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DE810-AE67-A009-8BE9-6740D4E9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09533-06AC-9641-BBAA-3CB91D944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20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1EE5-9963-BB7C-0AF6-859A8709C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E74D9-9B78-C45B-08FD-77ACC3950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2F5E28-21FB-0F20-2EF3-E15DAF542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E1E7E2-69E1-D96D-8C7B-16589E58F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84F578-A0C2-8A1E-80E7-30BBBB3B54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54576-A163-AF00-4265-B47C9846C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FAAA-6657-C14C-BF84-71C88151A07E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239947-1019-8AB3-9F4A-622960F4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913CB3-DA20-265C-2F76-A53C6AA88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09533-06AC-9641-BBAA-3CB91D944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46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F865D-D30A-3F97-6A20-B39BC5B9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947D47-9F28-44C6-1ED6-7218BF3F3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FAAA-6657-C14C-BF84-71C88151A07E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76935A-7103-E87C-6E0A-C74E0A20E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F1DA0-3E9D-87AF-C28C-F8FEC31B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09533-06AC-9641-BBAA-3CB91D944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22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A2C73-28C5-F403-D6A3-9DC661CDA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FAAA-6657-C14C-BF84-71C88151A07E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3B050B-FD6D-9F64-2492-74570D0B7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5A42F-FDAC-22DF-4FB7-9B9C1AB3E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09533-06AC-9641-BBAA-3CB91D944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32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0896C-20BF-2B09-7094-DEF040D73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19258-95AE-A45B-7540-D97836F71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D46B0-4030-A985-85B9-325701545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39EA8-6CFF-1C98-19CA-D5077297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FAAA-6657-C14C-BF84-71C88151A07E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B2B80-13FA-B5DA-427F-2F0A5D0CE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3C36C-1C77-16DC-190E-FC6FA043E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09533-06AC-9641-BBAA-3CB91D944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85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5AD21-0B32-B9BA-9BA1-E790E42B6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B974C-44FB-D028-6551-A911B53033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195A1-A952-355B-83A4-7DDD16E35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1B21D-A4CA-1858-EDF9-2EBEF7B6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FAAA-6657-C14C-BF84-71C88151A07E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CF97E-17CC-F1C5-1420-E4B305ED3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613DB-071C-F758-A94E-B798FAC1D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09533-06AC-9641-BBAA-3CB91D944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56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D9802-7C83-F81B-A6CC-22E1B451A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E51D81-B71D-1B72-B621-E17CCA473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6314C-4E49-AE38-17F2-55BEECA8D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FAAA-6657-C14C-BF84-71C88151A07E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E3536-CF1F-9DE2-19FF-5248460F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12E37-5FD8-CE45-79AC-40E38DA3E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09533-06AC-9641-BBAA-3CB91D944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30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A15F20-36D9-56B9-0112-A08D443CE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38E5B-5E46-B711-71D1-783F1BF26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53FA7-35C2-09CE-0B80-035AC654D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FAAA-6657-C14C-BF84-71C88151A07E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02C45-5777-AC8F-E89E-06A5D4448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758F8-25E2-B447-A0B5-87DEF8C66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09533-06AC-9641-BBAA-3CB91D944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47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EC0D6D-D995-2D23-86F9-C1A2DB222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5DA5D-BC2E-0958-0CD6-6C9BF06EF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8FA20-E78A-2B75-5899-782FEE4D3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3FAAA-6657-C14C-BF84-71C88151A07E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EE35E-FF0C-8385-082C-0E10F2D7BA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997B6-47FD-5286-CF57-EDD44ABF7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09533-06AC-9641-BBAA-3CB91D944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30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36A9C-45DF-8CAB-E342-4D0D03CF0A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93333-C112-607B-90F2-E8A5201E4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Team member: Yu Zhu Ou, </a:t>
            </a:r>
            <a:r>
              <a:rPr lang="en-US" dirty="0" err="1"/>
              <a:t>Aidana</a:t>
            </a:r>
            <a:r>
              <a:rPr lang="en-US" dirty="0"/>
              <a:t> </a:t>
            </a:r>
            <a:r>
              <a:rPr lang="en-US" dirty="0" err="1"/>
              <a:t>Almazbek</a:t>
            </a:r>
            <a:r>
              <a:rPr lang="en-US" dirty="0"/>
              <a:t> </a:t>
            </a:r>
            <a:r>
              <a:rPr lang="en-US" dirty="0" err="1"/>
              <a:t>kyzy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237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17E1D-698B-821D-5378-15D50B021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  <a:latin typeface="Helvetica Neue" panose="02000503000000020004" pitchFamily="2" charset="0"/>
              </a:rPr>
              <a:t>The dataset covers 97 ZIP codes over 35 days, with about 79,000 observations and 191 features.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The goal of this phase is to check data quality, understand patterns, and prepare for modeling.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848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4223331E-D6C2-BBBD-80B7-76A53730A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2025" y="2053346"/>
            <a:ext cx="6924639" cy="275130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10D1B-4FE4-F68D-8922-1CEC5E2D7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effectLst/>
                <a:latin typeface="Helvetica Neue" panose="02000503000000020004" pitchFamily="2" charset="0"/>
              </a:rPr>
              <a:t>From Figure 3, we observe that AQI values are only in the Good and Moderate range.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So this confirms that we should treat this as a regression problem, not classification.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9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90805723-D35B-B8DE-FDAC-2C20B71B0A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72245" y="3343503"/>
            <a:ext cx="4775200" cy="2667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8BC7F-6804-AB65-EC38-03A42D7D6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3356" y="847497"/>
            <a:ext cx="4287044" cy="3448731"/>
          </a:xfrm>
        </p:spPr>
        <p:txBody>
          <a:bodyPr/>
          <a:lstStyle/>
          <a:p>
            <a:r>
              <a:rPr lang="en-US" dirty="0">
                <a:effectLst/>
                <a:latin typeface="Helvetica Neue" panose="02000503000000020004" pitchFamily="2" charset="0"/>
              </a:rPr>
              <a:t>From Figure 4 and Table IV, we see strong temporal patterns.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AQI is lowest in the morning and reaches its peak around 8 PM.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Also, AQI is higher on Fridays and Saturdays. This suggests that human activity, especially traffic and daily routines, has a strong impact on air quality.</a:t>
            </a:r>
          </a:p>
          <a:p>
            <a:endParaRPr lang="en-US" dirty="0"/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8C0254E-8534-6EE9-A3B5-5E9F8A8C2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955" y="1578429"/>
            <a:ext cx="7405689" cy="458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621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20D810A4-ABC6-FC8D-F4CC-DF4030026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0327" y="1868643"/>
            <a:ext cx="9651346" cy="359394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343E4-1A1F-D175-1E5A-55A0E9945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1731" y="989012"/>
            <a:ext cx="8188098" cy="745445"/>
          </a:xfrm>
        </p:spPr>
        <p:txBody>
          <a:bodyPr/>
          <a:lstStyle/>
          <a:p>
            <a:r>
              <a:rPr lang="en-US" dirty="0">
                <a:effectLst/>
                <a:latin typeface="Helvetica Neue" panose="02000503000000020004" pitchFamily="2" charset="0"/>
              </a:rPr>
              <a:t>Looking at spatial patterns in Figure 6, AQI is quite similar across different ZIP codes.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This means location does have some effect, but it is weaker compared to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68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7DAE3E66-8509-7A68-5EDB-513EAA1EE6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3885" y="943201"/>
            <a:ext cx="6126617" cy="454618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FA88D-693F-BD8F-81A0-0C35768C5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effectLst/>
                <a:latin typeface="Helvetica Neue" panose="02000503000000020004" pitchFamily="2" charset="0"/>
              </a:rPr>
              <a:t>From the correlation table, we find that PM2.5 and PM10 are highly correlated, so one of them should be removed to avoid redundancy.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We also see strong relationships between carbon monoxide and nitrogen dioxide, which suggests they come from similar sources like traffic or combustion.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51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260C90B2-E1EE-8F9E-6F0D-A101EC289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3847" y="2017008"/>
            <a:ext cx="6172200" cy="341399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D6D67-642E-320C-A268-9AAAE8161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211" y="703149"/>
            <a:ext cx="6172200" cy="2095274"/>
          </a:xfrm>
        </p:spPr>
        <p:txBody>
          <a:bodyPr/>
          <a:lstStyle/>
          <a:p>
            <a:r>
              <a:rPr lang="en-US" dirty="0">
                <a:effectLst/>
                <a:latin typeface="Helvetica Neue" panose="02000503000000020004" pitchFamily="2" charset="0"/>
              </a:rPr>
              <a:t>“From the distribution and density plots, many variables are skewed, and the relationships are not linear.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This tells us that simple linear models may not perform well.”</a:t>
            </a:r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B5C745D-11C5-BA5B-46A5-E3B2346C9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25" y="2057400"/>
            <a:ext cx="5050801" cy="333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344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210E-E978-C452-6C49-17746E523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0332957E-10BF-21CE-5647-BE928DD1B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514308"/>
            <a:ext cx="6172200" cy="381985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2797B-4220-7D71-5061-CF1FE9110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effectLst/>
                <a:latin typeface="Helvetica Neue" panose="02000503000000020004" pitchFamily="2" charset="0"/>
              </a:rPr>
              <a:t>The most important result comes from Figure 15.</a:t>
            </a:r>
            <a:br>
              <a:rPr lang="en-US" dirty="0">
                <a:effectLst/>
                <a:latin typeface="Helvetica Neue" panose="02000503000000020004" pitchFamily="2" charset="0"/>
              </a:rPr>
            </a:br>
            <a:r>
              <a:rPr lang="en-US" dirty="0">
                <a:effectLst/>
                <a:latin typeface="Helvetica Neue" panose="02000503000000020004" pitchFamily="2" charset="0"/>
              </a:rPr>
              <a:t>We found that AQI at the previous hour has a correlation of 0.977 with the current AQI.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This is extremely high, which means AQI strongly depends on its past values.</a:t>
            </a:r>
            <a:br>
              <a:rPr lang="en-US" dirty="0">
                <a:effectLst/>
                <a:latin typeface="Helvetica Neue" panose="02000503000000020004" pitchFamily="2" charset="0"/>
              </a:rPr>
            </a:br>
            <a:r>
              <a:rPr lang="en-US" dirty="0">
                <a:effectLst/>
                <a:latin typeface="Helvetica Neue" panose="02000503000000020004" pitchFamily="2" charset="0"/>
              </a:rPr>
              <a:t>So this is clearly a time-series problem.</a:t>
            </a:r>
          </a:p>
        </p:txBody>
      </p:sp>
    </p:spTree>
    <p:extLst>
      <p:ext uri="{BB962C8B-B14F-4D97-AF65-F5344CB8AC3E}">
        <p14:creationId xmlns:p14="http://schemas.microsoft.com/office/powerpoint/2010/main" val="629359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2839A-5CF5-9701-89F0-A2E37369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2EDFEFAE-4C21-B9C7-8435-2F4D94B00D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2158792"/>
            <a:ext cx="6172200" cy="253089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BCE1D9-D9E0-6138-CA3B-793E979F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From the feature importance table, the most important predictors are ozone, PM2.5, and nitrogen dioxide(NO₂), along with time-related features like hour and day.</a:t>
            </a:r>
          </a:p>
        </p:txBody>
      </p:sp>
    </p:spTree>
    <p:extLst>
      <p:ext uri="{BB962C8B-B14F-4D97-AF65-F5344CB8AC3E}">
        <p14:creationId xmlns:p14="http://schemas.microsoft.com/office/powerpoint/2010/main" val="613089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55A78-6DB3-CF46-D708-50BAF06B4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>
              <a:effectLst/>
              <a:latin typeface="Helvetica Neue" panose="02000503000000020004" pitchFamily="2" charset="0"/>
            </a:endParaRP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During this phase, one challenge was handling a large dataset with many features, especially lag features.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We validated our analysis by checking data quality, distributions, and consistency across features.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Our work supports the modeling team by identifying key patterns, important features, and relationships needed for prediction. 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We contribute to accuracy by identifying non-linear patterns and key predictors, which helps improve model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308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411</Words>
  <Application>Microsoft Macintosh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Helvetica Neue</vt:lpstr>
      <vt:lpstr>Office Theme</vt:lpstr>
      <vt:lpstr>EDA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</dc:title>
  <dc:creator>Ou, Yu Zhu</dc:creator>
  <cp:lastModifiedBy>Ou, Yu Zhu</cp:lastModifiedBy>
  <cp:revision>1</cp:revision>
  <dcterms:created xsi:type="dcterms:W3CDTF">2026-04-23T19:16:01Z</dcterms:created>
  <dcterms:modified xsi:type="dcterms:W3CDTF">2026-04-23T19:27:04Z</dcterms:modified>
</cp:coreProperties>
</file>